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2" y="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38CB5-7F64-4520-BFB6-9B59E0407C5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E36AA-57D4-4DDC-9B6E-1617AD5BF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4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E36AA-57D4-4DDC-9B6E-1617AD5BF4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55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35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90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35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01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94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28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5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99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4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79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73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920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7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EBD35A4-D0A6-429D-A559-27CC391258E6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C7726F-352F-4449-8590-79C1829B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gwuonu-github2/Retail-Sales-Dashboard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dennis.ugwuonu@gmail.com" TargetMode="External"/><Relationship Id="rId2" Type="http://schemas.openxmlformats.org/officeDocument/2006/relationships/hyperlink" Target="https://github.com/Ugwuonu-github2/Retail-Sales-Dashboar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3B883-2139-F3B3-283C-6209B5981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9441" y="1"/>
            <a:ext cx="8798560" cy="185609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3E0FA-AAD1-49E7-7643-8AB7352359B1}"/>
              </a:ext>
            </a:extLst>
          </p:cNvPr>
          <p:cNvSpPr txBox="1"/>
          <p:nvPr/>
        </p:nvSpPr>
        <p:spPr>
          <a:xfrm>
            <a:off x="9430603" y="35347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DB4ED-BDE6-E837-AB55-8BE62754EF19}"/>
              </a:ext>
            </a:extLst>
          </p:cNvPr>
          <p:cNvSpPr txBox="1"/>
          <p:nvPr/>
        </p:nvSpPr>
        <p:spPr>
          <a:xfrm>
            <a:off x="2092961" y="928049"/>
            <a:ext cx="9062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5AE8C-99B5-09AB-A599-010554A40A85}"/>
              </a:ext>
            </a:extLst>
          </p:cNvPr>
          <p:cNvSpPr txBox="1"/>
          <p:nvPr/>
        </p:nvSpPr>
        <p:spPr>
          <a:xfrm>
            <a:off x="1869441" y="205661"/>
            <a:ext cx="1009903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---------------------------------------------------------------------------------------------------------------------------</a:t>
            </a:r>
          </a:p>
          <a:p>
            <a:endParaRPr lang="en-US" dirty="0"/>
          </a:p>
          <a:p>
            <a:r>
              <a:rPr lang="en-US" sz="4400" b="1" dirty="0">
                <a:solidFill>
                  <a:srgbClr val="002060"/>
                </a:solidFill>
                <a:latin typeface="Aptos" panose="020B0004020202020204" pitchFamily="34" charset="0"/>
              </a:rPr>
              <a:t>Retail Sales Performance Dashboard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			</a:t>
            </a:r>
            <a:r>
              <a:rPr lang="en-US" sz="2800" dirty="0">
                <a:latin typeface="Aptos" panose="020B0004020202020204" pitchFamily="34" charset="0"/>
              </a:rPr>
              <a:t>Business Intelligence Portfolio Project</a:t>
            </a:r>
          </a:p>
          <a:p>
            <a:endParaRPr lang="en-US" sz="2800" dirty="0">
              <a:latin typeface="Aptos" panose="020B000402020202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		 	</a:t>
            </a:r>
            <a:r>
              <a:rPr lang="en-US" sz="2800" b="1" dirty="0">
                <a:latin typeface="Aptos" panose="020B0004020202020204" pitchFamily="34" charset="0"/>
              </a:rPr>
              <a:t>Dennis Chinonso Ugwuonu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        				   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SQL • Excel • Power BI • GitHub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                							</a:t>
            </a:r>
            <a:r>
              <a:rPr lang="en-US" sz="1600" dirty="0">
                <a:latin typeface="Aptos" panose="020B0004020202020204" pitchFamily="34" charset="0"/>
              </a:rPr>
              <a:t>July 2026</a:t>
            </a:r>
          </a:p>
          <a:p>
            <a:endParaRPr lang="en-US" dirty="0"/>
          </a:p>
          <a:p>
            <a:r>
              <a:rPr lang="en-US" dirty="0"/>
              <a:t>-------------------------------------------------------------------------------------------------------------------------------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717663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B522-7CB8-B46C-632D-D7B6582B2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50126"/>
            <a:ext cx="10018713" cy="124194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ptos" panose="020B0004020202020204" pitchFamily="34" charset="0"/>
              </a:rPr>
              <a:t>Business</a:t>
            </a:r>
            <a:r>
              <a:rPr lang="en-US" b="1" dirty="0"/>
              <a:t> Problem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227E-7013-6058-9C6B-7C1E22026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299" y="494731"/>
            <a:ext cx="4867701" cy="58685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Aptos" panose="020B0004020202020204" pitchFamily="34" charset="0"/>
              </a:rPr>
              <a:t>Business Challenge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Sales data is collected across products, customers, states, and payment methods.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The data exists in raw form and is difficult to analyze.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Management lacks a centralized view of business performance.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This limits timely, data-driven decision-making.</a:t>
            </a:r>
          </a:p>
          <a:p>
            <a:pPr marL="0" indent="0">
              <a:buClrTx/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Aptos" panose="020B0004020202020204" pitchFamily="34" charset="0"/>
              </a:rPr>
              <a:t>Project Objective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Build an interactive Business Intelligence dashboard.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Transform raw sales data into meaningful insights.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Monitor KPIs and sales performance.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2600" dirty="0">
                <a:latin typeface="Aptos" panose="020B0004020202020204" pitchFamily="34" charset="0"/>
              </a:rPr>
              <a:t>Support faster, evidence-based business decisions.</a:t>
            </a:r>
            <a:endParaRPr lang="en-US" sz="26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4D246-1BFC-D1BD-AC3D-7BB469D6A487}"/>
              </a:ext>
            </a:extLst>
          </p:cNvPr>
          <p:cNvSpPr txBox="1"/>
          <p:nvPr/>
        </p:nvSpPr>
        <p:spPr>
          <a:xfrm>
            <a:off x="6705599" y="1281879"/>
            <a:ext cx="5486401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Key Business Questions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Which </a:t>
            </a:r>
            <a:r>
              <a:rPr lang="en-US" sz="1600" b="1" dirty="0">
                <a:latin typeface="Aptos" panose="020B0004020202020204" pitchFamily="34" charset="0"/>
              </a:rPr>
              <a:t>products</a:t>
            </a:r>
            <a:r>
              <a:rPr lang="en-US" sz="1600" dirty="0">
                <a:latin typeface="Aptos" panose="020B0004020202020204" pitchFamily="34" charset="0"/>
              </a:rPr>
              <a:t> and </a:t>
            </a:r>
            <a:r>
              <a:rPr lang="en-US" sz="1600" b="1" dirty="0">
                <a:latin typeface="Aptos" panose="020B0004020202020204" pitchFamily="34" charset="0"/>
              </a:rPr>
              <a:t>categories</a:t>
            </a:r>
            <a:r>
              <a:rPr lang="en-US" sz="1600" dirty="0">
                <a:latin typeface="Aptos" panose="020B0004020202020204" pitchFamily="34" charset="0"/>
              </a:rPr>
              <a:t> generate the highest </a:t>
            </a:r>
            <a:r>
              <a:rPr lang="en-US" sz="1600" b="1" dirty="0">
                <a:latin typeface="Aptos" panose="020B0004020202020204" pitchFamily="34" charset="0"/>
              </a:rPr>
              <a:t>sales</a:t>
            </a:r>
            <a:r>
              <a:rPr lang="en-US" sz="1600" dirty="0">
                <a:latin typeface="Aptos" panose="020B0004020202020204" pitchFamily="34" charset="0"/>
              </a:rPr>
              <a:t> and </a:t>
            </a:r>
            <a:r>
              <a:rPr lang="en-US" sz="1600" b="1" dirty="0">
                <a:latin typeface="Aptos" panose="020B0004020202020204" pitchFamily="34" charset="0"/>
              </a:rPr>
              <a:t>profit</a:t>
            </a:r>
            <a:r>
              <a:rPr lang="en-US" sz="1600" dirty="0">
                <a:latin typeface="Aptos" panose="020B0004020202020204" pitchFamily="34" charset="0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Which </a:t>
            </a:r>
            <a:r>
              <a:rPr lang="en-US" sz="1600" b="1" dirty="0">
                <a:latin typeface="Aptos" panose="020B0004020202020204" pitchFamily="34" charset="0"/>
              </a:rPr>
              <a:t>states</a:t>
            </a:r>
            <a:r>
              <a:rPr lang="en-US" sz="1600" dirty="0">
                <a:latin typeface="Aptos" panose="020B0004020202020204" pitchFamily="34" charset="0"/>
              </a:rPr>
              <a:t> contribute the most to </a:t>
            </a:r>
            <a:r>
              <a:rPr lang="en-US" sz="1600" b="1" dirty="0">
                <a:latin typeface="Aptos" panose="020B0004020202020204" pitchFamily="34" charset="0"/>
              </a:rPr>
              <a:t>total revenue</a:t>
            </a:r>
            <a:r>
              <a:rPr lang="en-US" sz="1600" dirty="0">
                <a:latin typeface="Aptos" panose="020B0004020202020204" pitchFamily="34" charset="0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How do </a:t>
            </a:r>
            <a:r>
              <a:rPr lang="en-US" sz="1600" b="1" dirty="0">
                <a:latin typeface="Aptos" panose="020B0004020202020204" pitchFamily="34" charset="0"/>
              </a:rPr>
              <a:t>monthly sales</a:t>
            </a:r>
            <a:r>
              <a:rPr lang="en-US" sz="1600" dirty="0">
                <a:latin typeface="Aptos" panose="020B0004020202020204" pitchFamily="34" charset="0"/>
              </a:rPr>
              <a:t> and </a:t>
            </a:r>
            <a:r>
              <a:rPr lang="en-US" sz="1600" b="1" dirty="0">
                <a:latin typeface="Aptos" panose="020B0004020202020204" pitchFamily="34" charset="0"/>
              </a:rPr>
              <a:t>profits</a:t>
            </a:r>
            <a:r>
              <a:rPr lang="en-US" sz="1600" dirty="0">
                <a:latin typeface="Aptos" panose="020B0004020202020204" pitchFamily="34" charset="0"/>
              </a:rPr>
              <a:t> change over time?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Who are the company's </a:t>
            </a:r>
            <a:r>
              <a:rPr lang="en-US" sz="1600" b="1" dirty="0">
                <a:latin typeface="Aptos" panose="020B0004020202020204" pitchFamily="34" charset="0"/>
              </a:rPr>
              <a:t>top-performing customers</a:t>
            </a:r>
            <a:r>
              <a:rPr lang="en-US" sz="1600" dirty="0">
                <a:latin typeface="Aptos" panose="020B0004020202020204" pitchFamily="34" charset="0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Which </a:t>
            </a:r>
            <a:r>
              <a:rPr lang="en-US" sz="1600" b="1" dirty="0">
                <a:latin typeface="Aptos" panose="020B0004020202020204" pitchFamily="34" charset="0"/>
              </a:rPr>
              <a:t>product categories</a:t>
            </a:r>
            <a:r>
              <a:rPr lang="en-US" sz="1600" dirty="0">
                <a:latin typeface="Aptos" panose="020B0004020202020204" pitchFamily="34" charset="0"/>
              </a:rPr>
              <a:t> require improvement in </a:t>
            </a:r>
            <a:r>
              <a:rPr lang="en-US" sz="1600" b="1" dirty="0">
                <a:latin typeface="Aptos" panose="020B0004020202020204" pitchFamily="34" charset="0"/>
              </a:rPr>
              <a:t>profitability</a:t>
            </a:r>
            <a:r>
              <a:rPr lang="en-US" sz="1600" dirty="0">
                <a:latin typeface="Aptos" panose="020B0004020202020204" pitchFamily="34" charset="0"/>
              </a:rPr>
              <a:t>?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Aptos" panose="020B0004020202020204" pitchFamily="34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76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6074-5645-E7EA-6404-55174A11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128289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Dataset &amp; Tools Used</a:t>
            </a:r>
            <a:br>
              <a:rPr lang="en-US" b="1" dirty="0"/>
            </a:br>
            <a:r>
              <a:rPr lang="en-US" sz="1800" i="1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Project Resources and Tech Stack</a:t>
            </a:r>
            <a:endParaRPr lang="en-US" sz="1800" b="1" i="1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A0BF-8BAE-7CCB-290F-9754E177E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116" y="1463041"/>
            <a:ext cx="5492699" cy="396708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Dataset</a:t>
            </a:r>
          </a:p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Madhav E-Commerce Sales Dataset</a:t>
            </a:r>
            <a:r>
              <a:rPr lang="en-US" sz="1600" dirty="0">
                <a:latin typeface="Aptos" panose="020B0004020202020204" pitchFamily="34" charset="0"/>
              </a:rPr>
              <a:t> </a:t>
            </a:r>
          </a:p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Contains </a:t>
            </a:r>
            <a:r>
              <a:rPr lang="en-US" sz="1600" b="1" dirty="0">
                <a:latin typeface="Aptos" panose="020B0004020202020204" pitchFamily="34" charset="0"/>
              </a:rPr>
              <a:t>orders, customers, products, payment methods, profit, sales, and geographic data</a:t>
            </a:r>
            <a:r>
              <a:rPr lang="en-US" sz="1600" dirty="0">
                <a:latin typeface="Aptos" panose="020B0004020202020204" pitchFamily="34" charset="0"/>
              </a:rPr>
              <a:t>. </a:t>
            </a:r>
          </a:p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Data was </a:t>
            </a:r>
            <a:r>
              <a:rPr lang="en-US" sz="1600" b="1" dirty="0">
                <a:latin typeface="Aptos" panose="020B0004020202020204" pitchFamily="34" charset="0"/>
              </a:rPr>
              <a:t>cleaned and transformed</a:t>
            </a:r>
            <a:r>
              <a:rPr lang="en-US" sz="1600" dirty="0">
                <a:latin typeface="Aptos" panose="020B0004020202020204" pitchFamily="34" charset="0"/>
              </a:rPr>
              <a:t> before analysis. </a:t>
            </a:r>
          </a:p>
          <a:p>
            <a:pPr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Used for </a:t>
            </a:r>
            <a:r>
              <a:rPr lang="en-US" sz="1600" b="1" dirty="0">
                <a:latin typeface="Aptos" panose="020B0004020202020204" pitchFamily="34" charset="0"/>
              </a:rPr>
              <a:t>dashboard</a:t>
            </a:r>
            <a:r>
              <a:rPr lang="en-US" sz="1600" dirty="0">
                <a:latin typeface="Aptos" panose="020B0004020202020204" pitchFamily="34" charset="0"/>
              </a:rPr>
              <a:t> development and </a:t>
            </a:r>
            <a:r>
              <a:rPr lang="en-US" sz="1600" b="1" dirty="0">
                <a:latin typeface="Aptos" panose="020B0004020202020204" pitchFamily="34" charset="0"/>
              </a:rPr>
              <a:t>KPI</a:t>
            </a:r>
            <a:r>
              <a:rPr lang="en-US" sz="1600" dirty="0">
                <a:latin typeface="Aptos" panose="020B0004020202020204" pitchFamily="34" charset="0"/>
              </a:rPr>
              <a:t> reporting.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7B6DA-F90B-5D9E-78E4-B3ACDA46407D}"/>
              </a:ext>
            </a:extLst>
          </p:cNvPr>
          <p:cNvSpPr txBox="1"/>
          <p:nvPr/>
        </p:nvSpPr>
        <p:spPr>
          <a:xfrm>
            <a:off x="7028597" y="2169155"/>
            <a:ext cx="5163403" cy="2303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Tools Used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SQL (DuckDB)</a:t>
            </a:r>
            <a:r>
              <a:rPr lang="en-US" sz="1600" dirty="0">
                <a:latin typeface="Aptos" panose="020B0004020202020204" pitchFamily="34" charset="0"/>
              </a:rPr>
              <a:t> – Data querying and analysis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Microsoft Excel</a:t>
            </a:r>
            <a:r>
              <a:rPr lang="en-US" sz="1600" dirty="0">
                <a:latin typeface="Aptos" panose="020B0004020202020204" pitchFamily="34" charset="0"/>
              </a:rPr>
              <a:t> – Data cleaning and KPI analysis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Power BI</a:t>
            </a:r>
            <a:r>
              <a:rPr lang="en-US" sz="1600" dirty="0">
                <a:latin typeface="Aptos" panose="020B0004020202020204" pitchFamily="34" charset="0"/>
              </a:rPr>
              <a:t> – Dashboard development and visualization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ptos" panose="020B0004020202020204" pitchFamily="34" charset="0"/>
              </a:rPr>
              <a:t>GitHub</a:t>
            </a:r>
            <a:r>
              <a:rPr lang="en-US" sz="1600" dirty="0">
                <a:latin typeface="Aptos" panose="020B0004020202020204" pitchFamily="34" charset="0"/>
              </a:rPr>
              <a:t> – Documentation and portfolio management</a:t>
            </a:r>
            <a:endParaRPr lang="en-US" sz="16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744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9EFC-B595-C53A-4721-0A1161E3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66" y="106878"/>
            <a:ext cx="11791665" cy="384441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Dashboard Overview</a:t>
            </a:r>
            <a:br>
              <a:rPr lang="en-US" sz="3600" b="1" dirty="0">
                <a:latin typeface="Aptos" panose="020B0004020202020204" pitchFamily="34" charset="0"/>
              </a:rPr>
            </a:br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Interactive Excel dashboard developed to monitor retail sales performance through key business metrics and visual analytics</a:t>
            </a:r>
            <a:r>
              <a:rPr lang="en-US" sz="1600" dirty="0"/>
              <a:t>.</a:t>
            </a:r>
            <a:endParaRPr lang="en-US" sz="1600" b="1" i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DC39DA-00C7-DE0B-A00D-F75533F1E4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" t="6614" r="59921" b="13840"/>
          <a:stretch>
            <a:fillRect/>
          </a:stretch>
        </p:blipFill>
        <p:spPr>
          <a:xfrm>
            <a:off x="1484311" y="859808"/>
            <a:ext cx="5985634" cy="599819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92EF08-6257-6644-E58E-37D96FDEB494}"/>
              </a:ext>
            </a:extLst>
          </p:cNvPr>
          <p:cNvSpPr txBox="1"/>
          <p:nvPr/>
        </p:nvSpPr>
        <p:spPr>
          <a:xfrm>
            <a:off x="8270543" y="859808"/>
            <a:ext cx="3768035" cy="4387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Aptos" panose="020B0004020202020204" pitchFamily="34" charset="0"/>
              </a:rPr>
              <a:t>Dashboard Features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" panose="020B0004020202020204" pitchFamily="34" charset="0"/>
              </a:rPr>
              <a:t>✓ KPI Summary Cards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" panose="020B0004020202020204" pitchFamily="34" charset="0"/>
              </a:rPr>
              <a:t>✓ Monthly Revenue Trend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" panose="020B0004020202020204" pitchFamily="34" charset="0"/>
              </a:rPr>
              <a:t>✓ Profit by Category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" panose="020B0004020202020204" pitchFamily="34" charset="0"/>
              </a:rPr>
              <a:t>✓ Sales by State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" panose="020B0004020202020204" pitchFamily="34" charset="0"/>
              </a:rPr>
              <a:t>✓ Top Customers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" panose="020B0004020202020204" pitchFamily="34" charset="0"/>
              </a:rPr>
              <a:t>✓ Top Products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Aptos" panose="020B0004020202020204" pitchFamily="34" charset="0"/>
              </a:rPr>
              <a:t>✓ Interactive Slicers (State, Category, Year)</a:t>
            </a:r>
          </a:p>
        </p:txBody>
      </p:sp>
    </p:spTree>
    <p:extLst>
      <p:ext uri="{BB962C8B-B14F-4D97-AF65-F5344CB8AC3E}">
        <p14:creationId xmlns:p14="http://schemas.microsoft.com/office/powerpoint/2010/main" val="3227319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EDDA-8965-DFFD-5B0C-E3E175D02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586854"/>
          </a:xfrm>
        </p:spPr>
        <p:txBody>
          <a:bodyPr>
            <a:noAutofit/>
          </a:bodyPr>
          <a:lstStyle/>
          <a:p>
            <a:br>
              <a:rPr lang="en-US" sz="36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br>
              <a:rPr lang="en-US" sz="36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r>
              <a:rPr lang="en-US" sz="3600" b="1" dirty="0">
                <a:latin typeface="Aptos" panose="020B0004020202020204" pitchFamily="34" charset="0"/>
              </a:rPr>
              <a:t>Key Insights</a:t>
            </a:r>
            <a:br>
              <a:rPr lang="en-US" sz="3600" b="1" dirty="0">
                <a:solidFill>
                  <a:srgbClr val="002060"/>
                </a:solidFill>
                <a:latin typeface="Aptos" panose="020B0004020202020204" pitchFamily="34" charset="0"/>
              </a:rPr>
            </a:br>
            <a:endParaRPr lang="en-US" sz="1800" b="1" i="1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470D6-4A19-D6EF-4233-83832B62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586855"/>
            <a:ext cx="4611690" cy="526803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Aptos" panose="020B0004020202020204" pitchFamily="34" charset="0"/>
              </a:rPr>
              <a:t>📈 </a:t>
            </a:r>
            <a:r>
              <a:rPr lang="en-US" sz="2200" b="1" dirty="0">
                <a:solidFill>
                  <a:srgbClr val="002060"/>
                </a:solidFill>
                <a:latin typeface="Aptos" panose="020B0004020202020204" pitchFamily="34" charset="0"/>
              </a:rPr>
              <a:t>Sales Performance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Aptos" panose="020B0004020202020204" pitchFamily="34" charset="0"/>
              </a:rPr>
              <a:t>• Tracks KPIs and monthly sales trends.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Aptos" panose="020B0004020202020204" pitchFamily="34" charset="0"/>
              </a:rPr>
              <a:t>• Highlights regional performance.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Aptos" panose="020B0004020202020204" pitchFamily="34" charset="0"/>
              </a:rPr>
              <a:t>• Supports growth planning.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700" dirty="0">
              <a:latin typeface="Aptos" panose="020B00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Aptos" panose="020B0004020202020204" pitchFamily="34" charset="0"/>
              </a:rPr>
              <a:t>👥 </a:t>
            </a:r>
            <a:r>
              <a:rPr lang="en-US" sz="2200" b="1" dirty="0">
                <a:solidFill>
                  <a:srgbClr val="002060"/>
                </a:solidFill>
                <a:latin typeface="Aptos" panose="020B0004020202020204" pitchFamily="34" charset="0"/>
              </a:rPr>
              <a:t>Customer Insights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Aptos" panose="020B0004020202020204" pitchFamily="34" charset="0"/>
              </a:rPr>
              <a:t>• Identifies top customers.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Aptos" panose="020B0004020202020204" pitchFamily="34" charset="0"/>
              </a:rPr>
              <a:t>• Reveals purchasing patterns.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latin typeface="Aptos" panose="020B0004020202020204" pitchFamily="34" charset="0"/>
              </a:rPr>
              <a:t>• Improves retention strategies.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758B8-3DE6-77CB-9BB5-209BAAC12FC6}"/>
              </a:ext>
            </a:extLst>
          </p:cNvPr>
          <p:cNvSpPr txBox="1"/>
          <p:nvPr/>
        </p:nvSpPr>
        <p:spPr>
          <a:xfrm>
            <a:off x="7492621" y="1335328"/>
            <a:ext cx="4213897" cy="393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📦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Product &amp; Category Insights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 • Highlights top-selling products.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 • Compares profitability.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 • Supports pricing decisions.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🌍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Regional Performance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• Compares state performance.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• Identifies growth opportunities.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• Supports resource allocation.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539F4-3F82-AEC8-17B0-422FE5BD1CF0}"/>
              </a:ext>
            </a:extLst>
          </p:cNvPr>
          <p:cNvSpPr txBox="1"/>
          <p:nvPr/>
        </p:nvSpPr>
        <p:spPr>
          <a:xfrm>
            <a:off x="2388358" y="6059606"/>
            <a:ext cx="8625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These insights support data-driven business decisions and strategic planning</a:t>
            </a:r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69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2254-FB02-BFA9-96E4-79561AB0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80521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F100F-5D6C-F1C9-FAAC-693D9553A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3727" y="639287"/>
            <a:ext cx="4611688" cy="46450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📈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Increase Investment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• Focus on top-selling products.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latin typeface="Aptos" panose="020B0004020202020204" pitchFamily="34" charset="0"/>
              </a:rPr>
              <a:t>• Optimize inventory. 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• Increase marketing. </a:t>
            </a:r>
          </a:p>
          <a:p>
            <a:pPr marL="0" indent="0">
              <a:buNone/>
            </a:pPr>
            <a:endParaRPr lang="en-US" sz="1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👥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Customer</a:t>
            </a:r>
            <a:r>
              <a:rPr lang="en-US" sz="1600" dirty="0">
                <a:latin typeface="Aptos" panose="020B0004020202020204" pitchFamily="34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Retention</a:t>
            </a:r>
            <a:r>
              <a:rPr lang="en-US" sz="1600" dirty="0">
                <a:latin typeface="Aptos" panose="020B00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• Reward loyal customers. 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• Personalize promotions. </a:t>
            </a: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</a:rPr>
              <a:t>• Encourage repeat purchases.</a:t>
            </a:r>
            <a:endParaRPr lang="en-US" sz="16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C99F0-31F8-3D50-E753-DAED03DE0D65}"/>
              </a:ext>
            </a:extLst>
          </p:cNvPr>
          <p:cNvSpPr txBox="1"/>
          <p:nvPr/>
        </p:nvSpPr>
        <p:spPr>
          <a:xfrm>
            <a:off x="8352430" y="10508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AA7D1E-04FD-8B65-8FFB-07156A8473E1}"/>
              </a:ext>
            </a:extLst>
          </p:cNvPr>
          <p:cNvSpPr txBox="1"/>
          <p:nvPr/>
        </p:nvSpPr>
        <p:spPr>
          <a:xfrm>
            <a:off x="7024049" y="1093224"/>
            <a:ext cx="3794077" cy="356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🌍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Regional</a:t>
            </a:r>
            <a:r>
              <a:rPr lang="en-US" sz="1600" dirty="0">
                <a:latin typeface="Aptos" panose="020B0004020202020204" pitchFamily="34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Performance</a:t>
            </a:r>
            <a:r>
              <a:rPr lang="en-US" sz="1600" dirty="0">
                <a:latin typeface="Aptos" panose="020B00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• Improve low-performing regions.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• Launch targeted campaigns.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• Optimize distribution.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📊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Data-Driven</a:t>
            </a:r>
            <a:r>
              <a:rPr lang="en-US" sz="1600" dirty="0">
                <a:latin typeface="Aptos" panose="020B0004020202020204" pitchFamily="34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Aptos" panose="020B0004020202020204" pitchFamily="34" charset="0"/>
              </a:rPr>
              <a:t>Decisions</a:t>
            </a:r>
            <a:r>
              <a:rPr lang="en-US" sz="1600" dirty="0">
                <a:latin typeface="Aptos" panose="020B00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• Monitor KPIs.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• Review dashboard regularly.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• Support strategic planning.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7C056-0836-5690-078F-D1989F6E914A}"/>
              </a:ext>
            </a:extLst>
          </p:cNvPr>
          <p:cNvSpPr txBox="1"/>
          <p:nvPr/>
        </p:nvSpPr>
        <p:spPr>
          <a:xfrm>
            <a:off x="655093" y="5118445"/>
            <a:ext cx="1198273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These recommendations help maximize profitability, improve customer loyalty, and support sustainable business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45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272B-AE45-2A65-3A5C-15F315219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"/>
            <a:ext cx="10018713" cy="69603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ptos" panose="020B0004020202020204" pitchFamily="34" charset="0"/>
              </a:rPr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D6E40-46F9-511F-B2E3-8FC8E0D6C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9051" y="696036"/>
            <a:ext cx="9373972" cy="59367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Technical Skills Gained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Improved </a:t>
            </a:r>
            <a:r>
              <a:rPr lang="en-US" sz="1600" b="1" dirty="0">
                <a:latin typeface="Aptos" panose="020B0004020202020204" pitchFamily="34" charset="0"/>
              </a:rPr>
              <a:t>SQL</a:t>
            </a:r>
            <a:r>
              <a:rPr lang="en-US" sz="1600" dirty="0">
                <a:latin typeface="Aptos" panose="020B0004020202020204" pitchFamily="34" charset="0"/>
              </a:rPr>
              <a:t> skills for business analysis.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Strengthened </a:t>
            </a:r>
            <a:r>
              <a:rPr lang="en-US" sz="1600" b="1" dirty="0">
                <a:latin typeface="Aptos" panose="020B0004020202020204" pitchFamily="34" charset="0"/>
              </a:rPr>
              <a:t>Microsoft Excel</a:t>
            </a:r>
            <a:r>
              <a:rPr lang="en-US" sz="1600" dirty="0">
                <a:latin typeface="Aptos" panose="020B0004020202020204" pitchFamily="34" charset="0"/>
              </a:rPr>
              <a:t> skills for data cleaning and KPI reporting.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Built </a:t>
            </a:r>
            <a:r>
              <a:rPr lang="en-US" sz="1600" b="1" dirty="0">
                <a:latin typeface="Aptos" panose="020B0004020202020204" pitchFamily="34" charset="0"/>
              </a:rPr>
              <a:t>Pivot Tables</a:t>
            </a:r>
            <a:r>
              <a:rPr lang="en-US" sz="1600" dirty="0">
                <a:latin typeface="Aptos" panose="020B0004020202020204" pitchFamily="34" charset="0"/>
              </a:rPr>
              <a:t> and </a:t>
            </a:r>
            <a:r>
              <a:rPr lang="en-US" sz="1600" b="1" dirty="0">
                <a:latin typeface="Aptos" panose="020B0004020202020204" pitchFamily="34" charset="0"/>
              </a:rPr>
              <a:t>Pivot Charts</a:t>
            </a:r>
            <a:r>
              <a:rPr lang="en-US" sz="1600" dirty="0">
                <a:latin typeface="Aptos" panose="020B0004020202020204" pitchFamily="34" charset="0"/>
              </a:rPr>
              <a:t>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Developed dashboard design and data visualization skills.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Improved </a:t>
            </a:r>
            <a:r>
              <a:rPr lang="en-US" sz="1600" b="1" dirty="0">
                <a:latin typeface="Aptos" panose="020B0004020202020204" pitchFamily="34" charset="0"/>
              </a:rPr>
              <a:t>GitHub</a:t>
            </a:r>
            <a:r>
              <a:rPr lang="en-US" sz="1600" dirty="0">
                <a:latin typeface="Aptos" panose="020B0004020202020204" pitchFamily="34" charset="0"/>
              </a:rPr>
              <a:t> documentation and presentation skills.</a:t>
            </a:r>
            <a:endParaRPr lang="en-US" sz="16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Challenges</a:t>
            </a:r>
            <a:r>
              <a:rPr lang="en-US" sz="1600" b="1" dirty="0">
                <a:latin typeface="Aptos" panose="020B0004020202020204" pitchFamily="34" charset="0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Overcome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Combined multiple tables into one analysis dataset.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Resolved data formatting and cleaning issues.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Completed the BI dashboard despite Power BI installation challenges.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Strengthened problem-solving through practical project work.</a:t>
            </a:r>
            <a:endParaRPr lang="en-US" sz="16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Future</a:t>
            </a:r>
            <a:r>
              <a:rPr lang="en-US" sz="1600" b="1" dirty="0">
                <a:latin typeface="Aptos" panose="020B0004020202020204" pitchFamily="34" charset="0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Aptos" panose="020B0004020202020204" pitchFamily="34" charset="0"/>
              </a:rPr>
              <a:t>Improvements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Develop an interactive </a:t>
            </a:r>
            <a:r>
              <a:rPr lang="en-US" sz="1600" b="1" dirty="0">
                <a:latin typeface="Aptos" panose="020B0004020202020204" pitchFamily="34" charset="0"/>
              </a:rPr>
              <a:t>Power BI</a:t>
            </a:r>
            <a:r>
              <a:rPr lang="en-US" sz="1600" dirty="0">
                <a:latin typeface="Aptos" panose="020B0004020202020204" pitchFamily="34" charset="0"/>
              </a:rPr>
              <a:t> dashboard.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Analyze larger and more diverse datasets.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Add forecasting and advanced KPIs. 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Automate dashboard refresh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64217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3FA0-E3A4-ED5C-EEEE-15BDD589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09433"/>
            <a:ext cx="10018713" cy="148760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ptos" panose="020B0004020202020204" pitchFamily="34" charset="0"/>
              </a:rPr>
              <a:t>Thank You!</a:t>
            </a:r>
            <a:br>
              <a:rPr lang="en-US" dirty="0"/>
            </a:b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Questions &amp; Discussions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9D0FD-5B66-1340-8F40-6065A42A5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61063"/>
            <a:ext cx="10018713" cy="277049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									Presented by</a:t>
            </a:r>
          </a:p>
          <a:p>
            <a:pPr marL="0" indent="0">
              <a:buNone/>
            </a:pPr>
            <a:endParaRPr lang="en-US" sz="20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latin typeface="Aptos" panose="020B0004020202020204" pitchFamily="34" charset="0"/>
              </a:rPr>
              <a:t>						Dennis Chinonso Ugwuonu</a:t>
            </a:r>
          </a:p>
          <a:p>
            <a:pPr marL="0" indent="0">
              <a:buNone/>
            </a:pPr>
            <a:endParaRPr lang="en-US" sz="2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i="1" dirty="0">
                <a:latin typeface="Aptos" panose="020B0004020202020204" pitchFamily="34" charset="0"/>
              </a:rPr>
              <a:t>						    Business Intelligence Portfolio Project</a:t>
            </a:r>
          </a:p>
          <a:p>
            <a:pPr marL="0" indent="0">
              <a:buNone/>
            </a:pPr>
            <a:endParaRPr lang="en-US" sz="1800" i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ptos" panose="020B0004020202020204" pitchFamily="34" charset="0"/>
              </a:rPr>
              <a:t>								    </a:t>
            </a:r>
            <a:r>
              <a:rPr lang="en-US" sz="2000" dirty="0">
                <a:solidFill>
                  <a:srgbClr val="002060"/>
                </a:solidFill>
                <a:latin typeface="Aptos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Portfolio</a:t>
            </a:r>
            <a:endParaRPr lang="en-US" sz="20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1895B-C2B8-0F34-FB64-C501420443C9}"/>
              </a:ext>
            </a:extLst>
          </p:cNvPr>
          <p:cNvSpPr txBox="1"/>
          <p:nvPr/>
        </p:nvSpPr>
        <p:spPr>
          <a:xfrm>
            <a:off x="4599296" y="6155140"/>
            <a:ext cx="605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Thank you for your time and consideration</a:t>
            </a:r>
            <a:r>
              <a:rPr lang="en-US" b="1" i="1" dirty="0"/>
              <a:t>.</a:t>
            </a:r>
            <a:endParaRPr lang="en-US" b="1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FC809-F053-E9E2-E40E-016C58A72732}"/>
              </a:ext>
            </a:extLst>
          </p:cNvPr>
          <p:cNvSpPr txBox="1"/>
          <p:nvPr/>
        </p:nvSpPr>
        <p:spPr>
          <a:xfrm>
            <a:off x="1187354" y="5595582"/>
            <a:ext cx="1100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----------------------------------------------------------------------------------------------------------------------------------------------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686473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A121-7982-50B9-9213-52CE350D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191070"/>
            <a:ext cx="10018713" cy="1446661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  <a:latin typeface="Aptos" panose="020B0004020202020204" pitchFamily="34" charset="0"/>
              </a:rPr>
              <a:t>Thank You!</a:t>
            </a:r>
            <a:b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Questions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486E0-DD71-6481-4DB5-F29D2FAE2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828801"/>
            <a:ext cx="10018713" cy="3562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Dennis Chinonso Ugwuonu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Retail Sales Performance Dashboard</a:t>
            </a:r>
            <a:b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US" sz="1800" i="1" dirty="0">
                <a:solidFill>
                  <a:schemeClr val="bg1"/>
                </a:solidFill>
                <a:latin typeface="Aptos" panose="020B0004020202020204" pitchFamily="34" charset="0"/>
              </a:rPr>
              <a:t>Business Intelligence Portfolio Project</a:t>
            </a:r>
          </a:p>
          <a:p>
            <a:pPr marL="0" indent="0">
              <a:buNone/>
            </a:pPr>
            <a:endParaRPr lang="en-US" sz="1800" i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GitHub: </a:t>
            </a: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  <a:hlinkClick r:id="rId2"/>
              </a:rPr>
              <a:t>GitHub Portfolio</a:t>
            </a:r>
            <a:endParaRPr lang="en-US" sz="18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Email: </a:t>
            </a: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  <a:hlinkClick r:id="rId3"/>
              </a:rPr>
              <a:t>dennis.ugwuonu@gmail.com</a:t>
            </a:r>
            <a:endParaRPr lang="en-US" sz="18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D23D7-59DC-79BC-CED6-73C194918C59}"/>
              </a:ext>
            </a:extLst>
          </p:cNvPr>
          <p:cNvSpPr txBox="1"/>
          <p:nvPr/>
        </p:nvSpPr>
        <p:spPr>
          <a:xfrm>
            <a:off x="4872251" y="5581934"/>
            <a:ext cx="46923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  <a:latin typeface="Aptos" panose="020B0004020202020204" pitchFamily="34" charset="0"/>
              </a:rPr>
              <a:t>Thank you for your time and attention.</a:t>
            </a:r>
          </a:p>
        </p:txBody>
      </p:sp>
    </p:spTree>
    <p:extLst>
      <p:ext uri="{BB962C8B-B14F-4D97-AF65-F5344CB8AC3E}">
        <p14:creationId xmlns:p14="http://schemas.microsoft.com/office/powerpoint/2010/main" val="4003671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861</TotalTime>
  <Words>695</Words>
  <Application>Microsoft Office PowerPoint</Application>
  <PresentationFormat>Widescreen</PresentationFormat>
  <Paragraphs>138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Corbel</vt:lpstr>
      <vt:lpstr>Parallax</vt:lpstr>
      <vt:lpstr> </vt:lpstr>
      <vt:lpstr>Business Problem </vt:lpstr>
      <vt:lpstr>Dataset &amp; Tools Used Project Resources and Tech Stack</vt:lpstr>
      <vt:lpstr>Dashboard Overview Interactive Excel dashboard developed to monitor retail sales performance through key business metrics and visual analytics.</vt:lpstr>
      <vt:lpstr>  Key Insights </vt:lpstr>
      <vt:lpstr>Business Recommendations</vt:lpstr>
      <vt:lpstr>Lessons Learned</vt:lpstr>
      <vt:lpstr>Thank You! Questions &amp; Discussions </vt:lpstr>
      <vt:lpstr>Thank You! Questions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14</cp:revision>
  <dcterms:created xsi:type="dcterms:W3CDTF">2026-07-21T20:44:43Z</dcterms:created>
  <dcterms:modified xsi:type="dcterms:W3CDTF">2026-07-24T13:30:26Z</dcterms:modified>
</cp:coreProperties>
</file>